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D5567C-AB1D-4683-B6ED-F43F15686596}" v="3" dt="2026-02-19T02:46:31.6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es Howard" userId="b83233fd-b018-4f6c-ad50-47ba9f0d5908" providerId="ADAL" clId="{C257009D-0699-4FFD-9781-7221C590F194}"/>
    <pc:docChg chg="undo custSel modSld">
      <pc:chgData name="James Howard" userId="b83233fd-b018-4f6c-ad50-47ba9f0d5908" providerId="ADAL" clId="{C257009D-0699-4FFD-9781-7221C590F194}" dt="2026-02-19T02:48:41.701" v="105" actId="5793"/>
      <pc:docMkLst>
        <pc:docMk/>
      </pc:docMkLst>
      <pc:sldChg chg="addSp delSp modSp mod">
        <pc:chgData name="James Howard" userId="b83233fd-b018-4f6c-ad50-47ba9f0d5908" providerId="ADAL" clId="{C257009D-0699-4FFD-9781-7221C590F194}" dt="2026-02-19T02:48:41.701" v="105" actId="5793"/>
        <pc:sldMkLst>
          <pc:docMk/>
          <pc:sldMk cId="1306638564" sldId="257"/>
        </pc:sldMkLst>
        <pc:spChg chg="mod">
          <ac:chgData name="James Howard" userId="b83233fd-b018-4f6c-ad50-47ba9f0d5908" providerId="ADAL" clId="{C257009D-0699-4FFD-9781-7221C590F194}" dt="2026-02-19T02:48:41.701" v="105" actId="5793"/>
          <ac:spMkLst>
            <pc:docMk/>
            <pc:sldMk cId="1306638564" sldId="257"/>
            <ac:spMk id="3" creationId="{E432F3E2-FC0D-088F-049F-6D97EB430067}"/>
          </ac:spMkLst>
        </pc:spChg>
        <pc:spChg chg="add del mod">
          <ac:chgData name="James Howard" userId="b83233fd-b018-4f6c-ad50-47ba9f0d5908" providerId="ADAL" clId="{C257009D-0699-4FFD-9781-7221C590F194}" dt="2026-02-19T02:48:17.087" v="101" actId="478"/>
          <ac:spMkLst>
            <pc:docMk/>
            <pc:sldMk cId="1306638564" sldId="257"/>
            <ac:spMk id="4" creationId="{3E82049E-6219-7218-A238-7E58C168CC80}"/>
          </ac:spMkLst>
        </pc:spChg>
        <pc:picChg chg="del">
          <ac:chgData name="James Howard" userId="b83233fd-b018-4f6c-ad50-47ba9f0d5908" providerId="ADAL" clId="{C257009D-0699-4FFD-9781-7221C590F194}" dt="2026-02-19T02:45:11.520" v="1" actId="478"/>
          <ac:picMkLst>
            <pc:docMk/>
            <pc:sldMk cId="1306638564" sldId="257"/>
            <ac:picMk id="5" creationId="{F22C0AF0-4507-512F-806D-90E208CEA1E2}"/>
          </ac:picMkLst>
        </pc:picChg>
        <pc:picChg chg="del">
          <ac:chgData name="James Howard" userId="b83233fd-b018-4f6c-ad50-47ba9f0d5908" providerId="ADAL" clId="{C257009D-0699-4FFD-9781-7221C590F194}" dt="2026-02-19T02:45:10.393" v="0" actId="478"/>
          <ac:picMkLst>
            <pc:docMk/>
            <pc:sldMk cId="1306638564" sldId="257"/>
            <ac:picMk id="7" creationId="{77DFBAD1-31F5-1541-DC50-964539AB9B35}"/>
          </ac:picMkLst>
        </pc:picChg>
        <pc:picChg chg="add mod">
          <ac:chgData name="James Howard" userId="b83233fd-b018-4f6c-ad50-47ba9f0d5908" providerId="ADAL" clId="{C257009D-0699-4FFD-9781-7221C590F194}" dt="2026-02-19T02:48:25.685" v="104" actId="1076"/>
          <ac:picMkLst>
            <pc:docMk/>
            <pc:sldMk cId="1306638564" sldId="257"/>
            <ac:picMk id="8" creationId="{8247D55D-2EDE-D38E-C9A4-1C5FCB80D85D}"/>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696FF-619C-558A-A3CC-0CB8A2662E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B5965780-4E30-18A5-F479-6BA5EA8BF5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BA630CB1-B3F6-0DA2-C7FE-206B0CEC7EBB}"/>
              </a:ext>
            </a:extLst>
          </p:cNvPr>
          <p:cNvSpPr>
            <a:spLocks noGrp="1"/>
          </p:cNvSpPr>
          <p:nvPr>
            <p:ph type="dt" sz="half" idx="10"/>
          </p:nvPr>
        </p:nvSpPr>
        <p:spPr/>
        <p:txBody>
          <a:bodyPr/>
          <a:lstStyle/>
          <a:p>
            <a:fld id="{025806B1-FFD7-423C-AFFA-818CBB06C8C1}" type="datetimeFigureOut">
              <a:rPr lang="en-AU" smtClean="0"/>
              <a:t>19/02/2026</a:t>
            </a:fld>
            <a:endParaRPr lang="en-AU"/>
          </a:p>
        </p:txBody>
      </p:sp>
      <p:sp>
        <p:nvSpPr>
          <p:cNvPr id="5" name="Footer Placeholder 4">
            <a:extLst>
              <a:ext uri="{FF2B5EF4-FFF2-40B4-BE49-F238E27FC236}">
                <a16:creationId xmlns:a16="http://schemas.microsoft.com/office/drawing/2014/main" id="{1889F396-DD84-D9E6-A68C-1B3620E5C21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B427F64-CACF-EFE7-273E-29BD3091A3B0}"/>
              </a:ext>
            </a:extLst>
          </p:cNvPr>
          <p:cNvSpPr>
            <a:spLocks noGrp="1"/>
          </p:cNvSpPr>
          <p:nvPr>
            <p:ph type="sldNum" sz="quarter" idx="12"/>
          </p:nvPr>
        </p:nvSpPr>
        <p:spPr/>
        <p:txBody>
          <a:bodyPr/>
          <a:lstStyle/>
          <a:p>
            <a:fld id="{BAA66DFC-6760-4194-972C-29F1311984FC}" type="slidenum">
              <a:rPr lang="en-AU" smtClean="0"/>
              <a:t>‹#›</a:t>
            </a:fld>
            <a:endParaRPr lang="en-AU"/>
          </a:p>
        </p:txBody>
      </p:sp>
    </p:spTree>
    <p:extLst>
      <p:ext uri="{BB962C8B-B14F-4D97-AF65-F5344CB8AC3E}">
        <p14:creationId xmlns:p14="http://schemas.microsoft.com/office/powerpoint/2010/main" val="1151810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DC579-11BA-2F25-03B8-2F8AA8C38BAC}"/>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28FD3BDC-ACEC-D050-F15E-DBE779C754C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00D258D-D52D-F7C3-F46E-8B57FA9E6E09}"/>
              </a:ext>
            </a:extLst>
          </p:cNvPr>
          <p:cNvSpPr>
            <a:spLocks noGrp="1"/>
          </p:cNvSpPr>
          <p:nvPr>
            <p:ph type="dt" sz="half" idx="10"/>
          </p:nvPr>
        </p:nvSpPr>
        <p:spPr/>
        <p:txBody>
          <a:bodyPr/>
          <a:lstStyle/>
          <a:p>
            <a:fld id="{025806B1-FFD7-423C-AFFA-818CBB06C8C1}" type="datetimeFigureOut">
              <a:rPr lang="en-AU" smtClean="0"/>
              <a:t>19/02/2026</a:t>
            </a:fld>
            <a:endParaRPr lang="en-AU"/>
          </a:p>
        </p:txBody>
      </p:sp>
      <p:sp>
        <p:nvSpPr>
          <p:cNvPr id="5" name="Footer Placeholder 4">
            <a:extLst>
              <a:ext uri="{FF2B5EF4-FFF2-40B4-BE49-F238E27FC236}">
                <a16:creationId xmlns:a16="http://schemas.microsoft.com/office/drawing/2014/main" id="{B4EDFB9B-9EB1-91FD-8244-A9824E25334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4A3270D-828A-DFF6-3609-DA0779EC80CE}"/>
              </a:ext>
            </a:extLst>
          </p:cNvPr>
          <p:cNvSpPr>
            <a:spLocks noGrp="1"/>
          </p:cNvSpPr>
          <p:nvPr>
            <p:ph type="sldNum" sz="quarter" idx="12"/>
          </p:nvPr>
        </p:nvSpPr>
        <p:spPr/>
        <p:txBody>
          <a:bodyPr/>
          <a:lstStyle/>
          <a:p>
            <a:fld id="{BAA66DFC-6760-4194-972C-29F1311984FC}" type="slidenum">
              <a:rPr lang="en-AU" smtClean="0"/>
              <a:t>‹#›</a:t>
            </a:fld>
            <a:endParaRPr lang="en-AU"/>
          </a:p>
        </p:txBody>
      </p:sp>
    </p:spTree>
    <p:extLst>
      <p:ext uri="{BB962C8B-B14F-4D97-AF65-F5344CB8AC3E}">
        <p14:creationId xmlns:p14="http://schemas.microsoft.com/office/powerpoint/2010/main" val="343950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ABA50-C46D-BDED-7993-CE12412C27E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EABD118F-8932-09E2-2809-3622C246DD9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993EEA-3655-53E5-7041-63050CFBF35B}"/>
              </a:ext>
            </a:extLst>
          </p:cNvPr>
          <p:cNvSpPr>
            <a:spLocks noGrp="1"/>
          </p:cNvSpPr>
          <p:nvPr>
            <p:ph type="dt" sz="half" idx="10"/>
          </p:nvPr>
        </p:nvSpPr>
        <p:spPr/>
        <p:txBody>
          <a:bodyPr/>
          <a:lstStyle/>
          <a:p>
            <a:fld id="{025806B1-FFD7-423C-AFFA-818CBB06C8C1}" type="datetimeFigureOut">
              <a:rPr lang="en-AU" smtClean="0"/>
              <a:t>19/02/2026</a:t>
            </a:fld>
            <a:endParaRPr lang="en-AU"/>
          </a:p>
        </p:txBody>
      </p:sp>
      <p:sp>
        <p:nvSpPr>
          <p:cNvPr id="5" name="Footer Placeholder 4">
            <a:extLst>
              <a:ext uri="{FF2B5EF4-FFF2-40B4-BE49-F238E27FC236}">
                <a16:creationId xmlns:a16="http://schemas.microsoft.com/office/drawing/2014/main" id="{177B8B0D-CEB7-B482-B017-F2E65CDDAA8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560E9EB9-46FB-59F9-63F5-86D6387AB120}"/>
              </a:ext>
            </a:extLst>
          </p:cNvPr>
          <p:cNvSpPr>
            <a:spLocks noGrp="1"/>
          </p:cNvSpPr>
          <p:nvPr>
            <p:ph type="sldNum" sz="quarter" idx="12"/>
          </p:nvPr>
        </p:nvSpPr>
        <p:spPr/>
        <p:txBody>
          <a:bodyPr/>
          <a:lstStyle/>
          <a:p>
            <a:fld id="{BAA66DFC-6760-4194-972C-29F1311984FC}" type="slidenum">
              <a:rPr lang="en-AU" smtClean="0"/>
              <a:t>‹#›</a:t>
            </a:fld>
            <a:endParaRPr lang="en-AU"/>
          </a:p>
        </p:txBody>
      </p:sp>
    </p:spTree>
    <p:extLst>
      <p:ext uri="{BB962C8B-B14F-4D97-AF65-F5344CB8AC3E}">
        <p14:creationId xmlns:p14="http://schemas.microsoft.com/office/powerpoint/2010/main" val="3999613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73FA0-6C7F-BF71-423B-B559E8C3F3B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3892EC74-80BF-B2FF-0CA1-E916FB5110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18935881-97B1-F479-7EA0-E57881B37D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1DE0CBF0-3EB2-0710-423C-0C04255CA8A9}"/>
              </a:ext>
            </a:extLst>
          </p:cNvPr>
          <p:cNvSpPr>
            <a:spLocks noGrp="1"/>
          </p:cNvSpPr>
          <p:nvPr>
            <p:ph type="dt" sz="half" idx="10"/>
          </p:nvPr>
        </p:nvSpPr>
        <p:spPr/>
        <p:txBody>
          <a:bodyPr/>
          <a:lstStyle/>
          <a:p>
            <a:fld id="{025806B1-FFD7-423C-AFFA-818CBB06C8C1}" type="datetimeFigureOut">
              <a:rPr lang="en-AU" smtClean="0"/>
              <a:t>19/02/2026</a:t>
            </a:fld>
            <a:endParaRPr lang="en-AU"/>
          </a:p>
        </p:txBody>
      </p:sp>
      <p:sp>
        <p:nvSpPr>
          <p:cNvPr id="6" name="Footer Placeholder 5">
            <a:extLst>
              <a:ext uri="{FF2B5EF4-FFF2-40B4-BE49-F238E27FC236}">
                <a16:creationId xmlns:a16="http://schemas.microsoft.com/office/drawing/2014/main" id="{CB2B615A-BED6-CEE1-D1BD-776D8EDA5E56}"/>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E2FF7241-71BC-8144-D9DE-8FC6B4FC4D2D}"/>
              </a:ext>
            </a:extLst>
          </p:cNvPr>
          <p:cNvSpPr>
            <a:spLocks noGrp="1"/>
          </p:cNvSpPr>
          <p:nvPr>
            <p:ph type="sldNum" sz="quarter" idx="12"/>
          </p:nvPr>
        </p:nvSpPr>
        <p:spPr/>
        <p:txBody>
          <a:bodyPr/>
          <a:lstStyle/>
          <a:p>
            <a:fld id="{BAA66DFC-6760-4194-972C-29F1311984FC}" type="slidenum">
              <a:rPr lang="en-AU" smtClean="0"/>
              <a:t>‹#›</a:t>
            </a:fld>
            <a:endParaRPr lang="en-AU"/>
          </a:p>
        </p:txBody>
      </p:sp>
    </p:spTree>
    <p:extLst>
      <p:ext uri="{BB962C8B-B14F-4D97-AF65-F5344CB8AC3E}">
        <p14:creationId xmlns:p14="http://schemas.microsoft.com/office/powerpoint/2010/main" val="4258271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99B22-2D8A-9623-DFA8-D18C1B824512}"/>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2FDE7736-74BF-BA49-50DF-C280ABB690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3ED217-412F-9322-1788-DB61F090D6B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22562901-8948-1449-63F6-F2953FBF29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3598A3-86C0-5A41-27FD-545EE8E89DB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145DB13F-4FBF-B98C-018C-128B4F99B65C}"/>
              </a:ext>
            </a:extLst>
          </p:cNvPr>
          <p:cNvSpPr>
            <a:spLocks noGrp="1"/>
          </p:cNvSpPr>
          <p:nvPr>
            <p:ph type="dt" sz="half" idx="10"/>
          </p:nvPr>
        </p:nvSpPr>
        <p:spPr/>
        <p:txBody>
          <a:bodyPr/>
          <a:lstStyle/>
          <a:p>
            <a:fld id="{025806B1-FFD7-423C-AFFA-818CBB06C8C1}" type="datetimeFigureOut">
              <a:rPr lang="en-AU" smtClean="0"/>
              <a:t>19/02/2026</a:t>
            </a:fld>
            <a:endParaRPr lang="en-AU"/>
          </a:p>
        </p:txBody>
      </p:sp>
      <p:sp>
        <p:nvSpPr>
          <p:cNvPr id="8" name="Footer Placeholder 7">
            <a:extLst>
              <a:ext uri="{FF2B5EF4-FFF2-40B4-BE49-F238E27FC236}">
                <a16:creationId xmlns:a16="http://schemas.microsoft.com/office/drawing/2014/main" id="{56BD4532-896D-D9BE-E2D4-B0C6EDDC8DBC}"/>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34863BE5-A8FF-BCF9-5B37-8A72C78613A4}"/>
              </a:ext>
            </a:extLst>
          </p:cNvPr>
          <p:cNvSpPr>
            <a:spLocks noGrp="1"/>
          </p:cNvSpPr>
          <p:nvPr>
            <p:ph type="sldNum" sz="quarter" idx="12"/>
          </p:nvPr>
        </p:nvSpPr>
        <p:spPr/>
        <p:txBody>
          <a:bodyPr/>
          <a:lstStyle/>
          <a:p>
            <a:fld id="{BAA66DFC-6760-4194-972C-29F1311984FC}" type="slidenum">
              <a:rPr lang="en-AU" smtClean="0"/>
              <a:t>‹#›</a:t>
            </a:fld>
            <a:endParaRPr lang="en-AU"/>
          </a:p>
        </p:txBody>
      </p:sp>
    </p:spTree>
    <p:extLst>
      <p:ext uri="{BB962C8B-B14F-4D97-AF65-F5344CB8AC3E}">
        <p14:creationId xmlns:p14="http://schemas.microsoft.com/office/powerpoint/2010/main" val="19687025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5EF59-19E1-1038-17F5-EC169E0FC756}"/>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2CFAA594-3E70-6B7D-F840-1AFED3583286}"/>
              </a:ext>
            </a:extLst>
          </p:cNvPr>
          <p:cNvSpPr>
            <a:spLocks noGrp="1"/>
          </p:cNvSpPr>
          <p:nvPr>
            <p:ph type="dt" sz="half" idx="10"/>
          </p:nvPr>
        </p:nvSpPr>
        <p:spPr/>
        <p:txBody>
          <a:bodyPr/>
          <a:lstStyle/>
          <a:p>
            <a:fld id="{025806B1-FFD7-423C-AFFA-818CBB06C8C1}" type="datetimeFigureOut">
              <a:rPr lang="en-AU" smtClean="0"/>
              <a:t>19/02/2026</a:t>
            </a:fld>
            <a:endParaRPr lang="en-AU"/>
          </a:p>
        </p:txBody>
      </p:sp>
      <p:sp>
        <p:nvSpPr>
          <p:cNvPr id="4" name="Footer Placeholder 3">
            <a:extLst>
              <a:ext uri="{FF2B5EF4-FFF2-40B4-BE49-F238E27FC236}">
                <a16:creationId xmlns:a16="http://schemas.microsoft.com/office/drawing/2014/main" id="{E8958CA1-4FB9-566C-85D9-40B135F165B1}"/>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AB407F8A-9E60-021A-168D-32965F8A2EA5}"/>
              </a:ext>
            </a:extLst>
          </p:cNvPr>
          <p:cNvSpPr>
            <a:spLocks noGrp="1"/>
          </p:cNvSpPr>
          <p:nvPr>
            <p:ph type="sldNum" sz="quarter" idx="12"/>
          </p:nvPr>
        </p:nvSpPr>
        <p:spPr/>
        <p:txBody>
          <a:bodyPr/>
          <a:lstStyle/>
          <a:p>
            <a:fld id="{BAA66DFC-6760-4194-972C-29F1311984FC}" type="slidenum">
              <a:rPr lang="en-AU" smtClean="0"/>
              <a:t>‹#›</a:t>
            </a:fld>
            <a:endParaRPr lang="en-AU"/>
          </a:p>
        </p:txBody>
      </p:sp>
    </p:spTree>
    <p:extLst>
      <p:ext uri="{BB962C8B-B14F-4D97-AF65-F5344CB8AC3E}">
        <p14:creationId xmlns:p14="http://schemas.microsoft.com/office/powerpoint/2010/main" val="1379950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43331B-F410-52EA-5A3B-043B43D2D652}"/>
              </a:ext>
            </a:extLst>
          </p:cNvPr>
          <p:cNvSpPr>
            <a:spLocks noGrp="1"/>
          </p:cNvSpPr>
          <p:nvPr>
            <p:ph type="dt" sz="half" idx="10"/>
          </p:nvPr>
        </p:nvSpPr>
        <p:spPr/>
        <p:txBody>
          <a:bodyPr/>
          <a:lstStyle/>
          <a:p>
            <a:fld id="{025806B1-FFD7-423C-AFFA-818CBB06C8C1}" type="datetimeFigureOut">
              <a:rPr lang="en-AU" smtClean="0"/>
              <a:t>19/02/2026</a:t>
            </a:fld>
            <a:endParaRPr lang="en-AU"/>
          </a:p>
        </p:txBody>
      </p:sp>
      <p:sp>
        <p:nvSpPr>
          <p:cNvPr id="3" name="Footer Placeholder 2">
            <a:extLst>
              <a:ext uri="{FF2B5EF4-FFF2-40B4-BE49-F238E27FC236}">
                <a16:creationId xmlns:a16="http://schemas.microsoft.com/office/drawing/2014/main" id="{1895B30C-46D4-950A-207C-BD91DAC7646C}"/>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6FC499CD-E061-9272-5B2A-69C0366C2B9B}"/>
              </a:ext>
            </a:extLst>
          </p:cNvPr>
          <p:cNvSpPr>
            <a:spLocks noGrp="1"/>
          </p:cNvSpPr>
          <p:nvPr>
            <p:ph type="sldNum" sz="quarter" idx="12"/>
          </p:nvPr>
        </p:nvSpPr>
        <p:spPr/>
        <p:txBody>
          <a:bodyPr/>
          <a:lstStyle/>
          <a:p>
            <a:fld id="{BAA66DFC-6760-4194-972C-29F1311984FC}" type="slidenum">
              <a:rPr lang="en-AU" smtClean="0"/>
              <a:t>‹#›</a:t>
            </a:fld>
            <a:endParaRPr lang="en-AU"/>
          </a:p>
        </p:txBody>
      </p:sp>
    </p:spTree>
    <p:extLst>
      <p:ext uri="{BB962C8B-B14F-4D97-AF65-F5344CB8AC3E}">
        <p14:creationId xmlns:p14="http://schemas.microsoft.com/office/powerpoint/2010/main" val="17016992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71CC5-BCB8-BA57-71FC-534A176580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50C33FE8-03C2-C93E-BC89-001A813EDB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6787DF50-31CE-73FC-1FC4-F6D1613AA0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9D010C-DAF7-1034-4B71-7C9D3A9F18B0}"/>
              </a:ext>
            </a:extLst>
          </p:cNvPr>
          <p:cNvSpPr>
            <a:spLocks noGrp="1"/>
          </p:cNvSpPr>
          <p:nvPr>
            <p:ph type="dt" sz="half" idx="10"/>
          </p:nvPr>
        </p:nvSpPr>
        <p:spPr/>
        <p:txBody>
          <a:bodyPr/>
          <a:lstStyle/>
          <a:p>
            <a:fld id="{025806B1-FFD7-423C-AFFA-818CBB06C8C1}" type="datetimeFigureOut">
              <a:rPr lang="en-AU" smtClean="0"/>
              <a:t>19/02/2026</a:t>
            </a:fld>
            <a:endParaRPr lang="en-AU"/>
          </a:p>
        </p:txBody>
      </p:sp>
      <p:sp>
        <p:nvSpPr>
          <p:cNvPr id="6" name="Footer Placeholder 5">
            <a:extLst>
              <a:ext uri="{FF2B5EF4-FFF2-40B4-BE49-F238E27FC236}">
                <a16:creationId xmlns:a16="http://schemas.microsoft.com/office/drawing/2014/main" id="{B7DF2D56-3316-67F3-E870-DC180496173B}"/>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DD133A8-8A62-AD95-BACC-A7E5CDC0F482}"/>
              </a:ext>
            </a:extLst>
          </p:cNvPr>
          <p:cNvSpPr>
            <a:spLocks noGrp="1"/>
          </p:cNvSpPr>
          <p:nvPr>
            <p:ph type="sldNum" sz="quarter" idx="12"/>
          </p:nvPr>
        </p:nvSpPr>
        <p:spPr/>
        <p:txBody>
          <a:bodyPr/>
          <a:lstStyle/>
          <a:p>
            <a:fld id="{BAA66DFC-6760-4194-972C-29F1311984FC}" type="slidenum">
              <a:rPr lang="en-AU" smtClean="0"/>
              <a:t>‹#›</a:t>
            </a:fld>
            <a:endParaRPr lang="en-AU"/>
          </a:p>
        </p:txBody>
      </p:sp>
    </p:spTree>
    <p:extLst>
      <p:ext uri="{BB962C8B-B14F-4D97-AF65-F5344CB8AC3E}">
        <p14:creationId xmlns:p14="http://schemas.microsoft.com/office/powerpoint/2010/main" val="7994637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CFA52-659F-810E-B16C-C29463E55E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8C888B66-9F74-5867-0FEF-B9C8F8E6E0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B560D0D3-A1F1-9C56-BF55-B09DE9CB6F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A4B723-79C4-9752-0362-172DCE149B51}"/>
              </a:ext>
            </a:extLst>
          </p:cNvPr>
          <p:cNvSpPr>
            <a:spLocks noGrp="1"/>
          </p:cNvSpPr>
          <p:nvPr>
            <p:ph type="dt" sz="half" idx="10"/>
          </p:nvPr>
        </p:nvSpPr>
        <p:spPr/>
        <p:txBody>
          <a:bodyPr/>
          <a:lstStyle/>
          <a:p>
            <a:fld id="{025806B1-FFD7-423C-AFFA-818CBB06C8C1}" type="datetimeFigureOut">
              <a:rPr lang="en-AU" smtClean="0"/>
              <a:t>19/02/2026</a:t>
            </a:fld>
            <a:endParaRPr lang="en-AU"/>
          </a:p>
        </p:txBody>
      </p:sp>
      <p:sp>
        <p:nvSpPr>
          <p:cNvPr id="6" name="Footer Placeholder 5">
            <a:extLst>
              <a:ext uri="{FF2B5EF4-FFF2-40B4-BE49-F238E27FC236}">
                <a16:creationId xmlns:a16="http://schemas.microsoft.com/office/drawing/2014/main" id="{3ADCE4EE-7EB4-B676-9F39-D8A5B4113D2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E3607DA-ECD3-64A3-FA2B-5D01D09D8C5C}"/>
              </a:ext>
            </a:extLst>
          </p:cNvPr>
          <p:cNvSpPr>
            <a:spLocks noGrp="1"/>
          </p:cNvSpPr>
          <p:nvPr>
            <p:ph type="sldNum" sz="quarter" idx="12"/>
          </p:nvPr>
        </p:nvSpPr>
        <p:spPr/>
        <p:txBody>
          <a:bodyPr/>
          <a:lstStyle/>
          <a:p>
            <a:fld id="{BAA66DFC-6760-4194-972C-29F1311984FC}" type="slidenum">
              <a:rPr lang="en-AU" smtClean="0"/>
              <a:t>‹#›</a:t>
            </a:fld>
            <a:endParaRPr lang="en-AU"/>
          </a:p>
        </p:txBody>
      </p:sp>
    </p:spTree>
    <p:extLst>
      <p:ext uri="{BB962C8B-B14F-4D97-AF65-F5344CB8AC3E}">
        <p14:creationId xmlns:p14="http://schemas.microsoft.com/office/powerpoint/2010/main" val="4644641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39A28-E8EB-83AF-5FFD-6EC49C686586}"/>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2A47E89C-3BF7-A861-DB33-E12680B996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533BE94B-D862-1CDE-8C11-08DB932E0990}"/>
              </a:ext>
            </a:extLst>
          </p:cNvPr>
          <p:cNvSpPr>
            <a:spLocks noGrp="1"/>
          </p:cNvSpPr>
          <p:nvPr>
            <p:ph type="dt" sz="half" idx="10"/>
          </p:nvPr>
        </p:nvSpPr>
        <p:spPr/>
        <p:txBody>
          <a:bodyPr/>
          <a:lstStyle/>
          <a:p>
            <a:fld id="{025806B1-FFD7-423C-AFFA-818CBB06C8C1}" type="datetimeFigureOut">
              <a:rPr lang="en-AU" smtClean="0"/>
              <a:t>19/02/2026</a:t>
            </a:fld>
            <a:endParaRPr lang="en-AU"/>
          </a:p>
        </p:txBody>
      </p:sp>
      <p:sp>
        <p:nvSpPr>
          <p:cNvPr id="5" name="Footer Placeholder 4">
            <a:extLst>
              <a:ext uri="{FF2B5EF4-FFF2-40B4-BE49-F238E27FC236}">
                <a16:creationId xmlns:a16="http://schemas.microsoft.com/office/drawing/2014/main" id="{542884A9-F970-5DF0-014D-570FCFABE83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AD7C248-D540-B603-6086-60C47CA4CCE4}"/>
              </a:ext>
            </a:extLst>
          </p:cNvPr>
          <p:cNvSpPr>
            <a:spLocks noGrp="1"/>
          </p:cNvSpPr>
          <p:nvPr>
            <p:ph type="sldNum" sz="quarter" idx="12"/>
          </p:nvPr>
        </p:nvSpPr>
        <p:spPr/>
        <p:txBody>
          <a:bodyPr/>
          <a:lstStyle/>
          <a:p>
            <a:fld id="{BAA66DFC-6760-4194-972C-29F1311984FC}" type="slidenum">
              <a:rPr lang="en-AU" smtClean="0"/>
              <a:t>‹#›</a:t>
            </a:fld>
            <a:endParaRPr lang="en-AU"/>
          </a:p>
        </p:txBody>
      </p:sp>
    </p:spTree>
    <p:extLst>
      <p:ext uri="{BB962C8B-B14F-4D97-AF65-F5344CB8AC3E}">
        <p14:creationId xmlns:p14="http://schemas.microsoft.com/office/powerpoint/2010/main" val="20536980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BA6BBC-0BC5-8AFA-8921-5C446121817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73D80FC4-7CAC-D6BE-A68D-72F5C71B5A0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3925E62A-B11D-899F-4954-A5A76FDFD390}"/>
              </a:ext>
            </a:extLst>
          </p:cNvPr>
          <p:cNvSpPr>
            <a:spLocks noGrp="1"/>
          </p:cNvSpPr>
          <p:nvPr>
            <p:ph type="dt" sz="half" idx="10"/>
          </p:nvPr>
        </p:nvSpPr>
        <p:spPr/>
        <p:txBody>
          <a:bodyPr/>
          <a:lstStyle/>
          <a:p>
            <a:fld id="{025806B1-FFD7-423C-AFFA-818CBB06C8C1}" type="datetimeFigureOut">
              <a:rPr lang="en-AU" smtClean="0"/>
              <a:t>19/02/2026</a:t>
            </a:fld>
            <a:endParaRPr lang="en-AU"/>
          </a:p>
        </p:txBody>
      </p:sp>
      <p:sp>
        <p:nvSpPr>
          <p:cNvPr id="5" name="Footer Placeholder 4">
            <a:extLst>
              <a:ext uri="{FF2B5EF4-FFF2-40B4-BE49-F238E27FC236}">
                <a16:creationId xmlns:a16="http://schemas.microsoft.com/office/drawing/2014/main" id="{DF65D25F-7623-67DA-D527-92060E2CDCB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74EBA7C-9E0E-E8B6-81C7-3439BB5CB9FE}"/>
              </a:ext>
            </a:extLst>
          </p:cNvPr>
          <p:cNvSpPr>
            <a:spLocks noGrp="1"/>
          </p:cNvSpPr>
          <p:nvPr>
            <p:ph type="sldNum" sz="quarter" idx="12"/>
          </p:nvPr>
        </p:nvSpPr>
        <p:spPr/>
        <p:txBody>
          <a:bodyPr/>
          <a:lstStyle/>
          <a:p>
            <a:fld id="{BAA66DFC-6760-4194-972C-29F1311984FC}" type="slidenum">
              <a:rPr lang="en-AU" smtClean="0"/>
              <a:t>‹#›</a:t>
            </a:fld>
            <a:endParaRPr lang="en-AU"/>
          </a:p>
        </p:txBody>
      </p:sp>
    </p:spTree>
    <p:extLst>
      <p:ext uri="{BB962C8B-B14F-4D97-AF65-F5344CB8AC3E}">
        <p14:creationId xmlns:p14="http://schemas.microsoft.com/office/powerpoint/2010/main" val="26331151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E1F0969-D5B5-3995-1563-F65CBD42D7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660824A4-DADD-963E-C5FC-33EDF0B7FC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4748D0D-CCD8-978F-9DF4-46EB19F592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25806B1-FFD7-423C-AFFA-818CBB06C8C1}" type="datetimeFigureOut">
              <a:rPr lang="en-AU" smtClean="0"/>
              <a:t>19/02/2026</a:t>
            </a:fld>
            <a:endParaRPr lang="en-AU"/>
          </a:p>
        </p:txBody>
      </p:sp>
      <p:sp>
        <p:nvSpPr>
          <p:cNvPr id="5" name="Footer Placeholder 4">
            <a:extLst>
              <a:ext uri="{FF2B5EF4-FFF2-40B4-BE49-F238E27FC236}">
                <a16:creationId xmlns:a16="http://schemas.microsoft.com/office/drawing/2014/main" id="{35586CBA-AF9B-30CC-24F2-C888F9F543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01773BA7-0E8D-9DA4-85A0-85940F2E79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AA66DFC-6760-4194-972C-29F1311984FC}" type="slidenum">
              <a:rPr lang="en-AU" smtClean="0"/>
              <a:t>‹#›</a:t>
            </a:fld>
            <a:endParaRPr lang="en-AU"/>
          </a:p>
        </p:txBody>
      </p:sp>
    </p:spTree>
    <p:extLst>
      <p:ext uri="{BB962C8B-B14F-4D97-AF65-F5344CB8AC3E}">
        <p14:creationId xmlns:p14="http://schemas.microsoft.com/office/powerpoint/2010/main" val="1002811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FFC94184-B9E7-13A6-1889-70438AD2E121}"/>
              </a:ext>
            </a:extLst>
          </p:cNvPr>
          <p:cNvSpPr>
            <a:spLocks noGrp="1"/>
          </p:cNvSpPr>
          <p:nvPr>
            <p:ph type="ctrTitle"/>
          </p:nvPr>
        </p:nvSpPr>
        <p:spPr>
          <a:xfrm>
            <a:off x="1314824" y="735106"/>
            <a:ext cx="10053763" cy="2928470"/>
          </a:xfrm>
        </p:spPr>
        <p:txBody>
          <a:bodyPr anchor="b">
            <a:normAutofit/>
          </a:bodyPr>
          <a:lstStyle/>
          <a:p>
            <a:pPr algn="l"/>
            <a:r>
              <a:rPr lang="en-AU" sz="4800">
                <a:solidFill>
                  <a:srgbClr val="FFFFFF"/>
                </a:solidFill>
              </a:rPr>
              <a:t>SOC Audit Architect</a:t>
            </a:r>
          </a:p>
        </p:txBody>
      </p:sp>
      <p:sp>
        <p:nvSpPr>
          <p:cNvPr id="3" name="Subtitle 2">
            <a:extLst>
              <a:ext uri="{FF2B5EF4-FFF2-40B4-BE49-F238E27FC236}">
                <a16:creationId xmlns:a16="http://schemas.microsoft.com/office/drawing/2014/main" id="{9219E447-5A23-B02C-F518-FC3A896CCEE7}"/>
              </a:ext>
            </a:extLst>
          </p:cNvPr>
          <p:cNvSpPr>
            <a:spLocks noGrp="1"/>
          </p:cNvSpPr>
          <p:nvPr>
            <p:ph type="subTitle" idx="1"/>
          </p:nvPr>
        </p:nvSpPr>
        <p:spPr>
          <a:xfrm>
            <a:off x="1350682" y="4870824"/>
            <a:ext cx="10005951" cy="1458258"/>
          </a:xfrm>
        </p:spPr>
        <p:txBody>
          <a:bodyPr anchor="ctr">
            <a:normAutofit fontScale="92500" lnSpcReduction="20000"/>
          </a:bodyPr>
          <a:lstStyle/>
          <a:p>
            <a:pPr algn="l"/>
            <a:r>
              <a:rPr lang="en-AU" i="1" dirty="0"/>
              <a:t>Automation for Sentinel Analytics Auditing</a:t>
            </a:r>
            <a:r>
              <a:rPr lang="en-AU" dirty="0"/>
              <a:t>.</a:t>
            </a:r>
          </a:p>
          <a:p>
            <a:pPr algn="l"/>
            <a:endParaRPr lang="en-AU" dirty="0"/>
          </a:p>
          <a:p>
            <a:pPr algn="l"/>
            <a:r>
              <a:rPr lang="en-AU" dirty="0"/>
              <a:t>Find the repository here:</a:t>
            </a:r>
          </a:p>
          <a:p>
            <a:pPr algn="l"/>
            <a:r>
              <a:rPr lang="en-AU" dirty="0"/>
              <a:t>https://github.com/JamesHowardEGM/SOC-Audit-Architect/tree/main</a:t>
            </a:r>
          </a:p>
        </p:txBody>
      </p:sp>
    </p:spTree>
    <p:extLst>
      <p:ext uri="{BB962C8B-B14F-4D97-AF65-F5344CB8AC3E}">
        <p14:creationId xmlns:p14="http://schemas.microsoft.com/office/powerpoint/2010/main" val="1259700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AB29E-200B-9AB1-3928-C7B2A7DED58E}"/>
              </a:ext>
            </a:extLst>
          </p:cNvPr>
          <p:cNvSpPr>
            <a:spLocks noGrp="1"/>
          </p:cNvSpPr>
          <p:nvPr>
            <p:ph type="title"/>
          </p:nvPr>
        </p:nvSpPr>
        <p:spPr/>
        <p:txBody>
          <a:bodyPr/>
          <a:lstStyle/>
          <a:p>
            <a:r>
              <a:rPr lang="en-US" dirty="0"/>
              <a:t>Step 1: Initialize the Environment</a:t>
            </a:r>
            <a:endParaRPr lang="en-AU" dirty="0"/>
          </a:p>
        </p:txBody>
      </p:sp>
      <p:sp>
        <p:nvSpPr>
          <p:cNvPr id="3" name="Content Placeholder 2">
            <a:extLst>
              <a:ext uri="{FF2B5EF4-FFF2-40B4-BE49-F238E27FC236}">
                <a16:creationId xmlns:a16="http://schemas.microsoft.com/office/drawing/2014/main" id="{E432F3E2-FC0D-088F-049F-6D97EB430067}"/>
              </a:ext>
            </a:extLst>
          </p:cNvPr>
          <p:cNvSpPr>
            <a:spLocks noGrp="1"/>
          </p:cNvSpPr>
          <p:nvPr>
            <p:ph idx="1"/>
          </p:nvPr>
        </p:nvSpPr>
        <p:spPr>
          <a:xfrm>
            <a:off x="838200" y="1825625"/>
            <a:ext cx="2645664" cy="4351338"/>
          </a:xfrm>
        </p:spPr>
        <p:txBody>
          <a:bodyPr>
            <a:normAutofit fontScale="92500" lnSpcReduction="10000"/>
          </a:bodyPr>
          <a:lstStyle/>
          <a:p>
            <a:r>
              <a:rPr lang="en-US" dirty="0"/>
              <a:t>The user establishes a shortcut to the OneDrive that the SOC shares. </a:t>
            </a:r>
          </a:p>
          <a:p>
            <a:pPr marL="0" indent="0">
              <a:buNone/>
            </a:pPr>
            <a:endParaRPr lang="en-US" dirty="0"/>
          </a:p>
          <a:p>
            <a:pPr marL="0" indent="0">
              <a:buNone/>
            </a:pPr>
            <a:endParaRPr lang="en-US" dirty="0"/>
          </a:p>
          <a:p>
            <a:r>
              <a:rPr lang="en-US" i="1" dirty="0"/>
              <a:t>Note: The script will ask if you have done this.</a:t>
            </a:r>
            <a:endParaRPr lang="en-AU" i="1" dirty="0"/>
          </a:p>
        </p:txBody>
      </p:sp>
      <p:pic>
        <p:nvPicPr>
          <p:cNvPr id="8" name="Picture 7">
            <a:extLst>
              <a:ext uri="{FF2B5EF4-FFF2-40B4-BE49-F238E27FC236}">
                <a16:creationId xmlns:a16="http://schemas.microsoft.com/office/drawing/2014/main" id="{8247D55D-2EDE-D38E-C9A4-1C5FCB80D85D}"/>
              </a:ext>
            </a:extLst>
          </p:cNvPr>
          <p:cNvPicPr>
            <a:picLocks noChangeAspect="1"/>
          </p:cNvPicPr>
          <p:nvPr/>
        </p:nvPicPr>
        <p:blipFill>
          <a:blip r:embed="rId2"/>
          <a:stretch>
            <a:fillRect/>
          </a:stretch>
        </p:blipFill>
        <p:spPr>
          <a:xfrm>
            <a:off x="3649604" y="1690688"/>
            <a:ext cx="8341227" cy="4416206"/>
          </a:xfrm>
          <a:prstGeom prst="rect">
            <a:avLst/>
          </a:prstGeom>
        </p:spPr>
      </p:pic>
    </p:spTree>
    <p:extLst>
      <p:ext uri="{BB962C8B-B14F-4D97-AF65-F5344CB8AC3E}">
        <p14:creationId xmlns:p14="http://schemas.microsoft.com/office/powerpoint/2010/main" val="13066385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D2F1FA-A2CD-8E08-867A-0765BA5CD103}"/>
              </a:ext>
            </a:extLst>
          </p:cNvPr>
          <p:cNvSpPr>
            <a:spLocks noGrp="1"/>
          </p:cNvSpPr>
          <p:nvPr>
            <p:ph type="title"/>
          </p:nvPr>
        </p:nvSpPr>
        <p:spPr>
          <a:xfrm>
            <a:off x="1136397" y="502020"/>
            <a:ext cx="5323715" cy="1642970"/>
          </a:xfrm>
        </p:spPr>
        <p:txBody>
          <a:bodyPr vert="horz" lIns="91440" tIns="45720" rIns="91440" bIns="45720" rtlCol="0" anchor="b">
            <a:normAutofit/>
          </a:bodyPr>
          <a:lstStyle/>
          <a:p>
            <a:r>
              <a:rPr lang="en-US" sz="3700" kern="1200">
                <a:solidFill>
                  <a:schemeClr val="tx1"/>
                </a:solidFill>
                <a:latin typeface="+mj-lt"/>
                <a:ea typeface="+mj-ea"/>
                <a:cs typeface="+mj-cs"/>
              </a:rPr>
              <a:t>Step 2: Download Master JSON from Sentinel</a:t>
            </a:r>
          </a:p>
        </p:txBody>
      </p:sp>
      <p:sp>
        <p:nvSpPr>
          <p:cNvPr id="16" name="Title 1">
            <a:extLst>
              <a:ext uri="{FF2B5EF4-FFF2-40B4-BE49-F238E27FC236}">
                <a16:creationId xmlns:a16="http://schemas.microsoft.com/office/drawing/2014/main" id="{DF1865E4-66BB-A437-579A-5C00AB1E34DD}"/>
              </a:ext>
            </a:extLst>
          </p:cNvPr>
          <p:cNvSpPr txBox="1">
            <a:spLocks/>
          </p:cNvSpPr>
          <p:nvPr/>
        </p:nvSpPr>
        <p:spPr>
          <a:xfrm>
            <a:off x="1144923" y="2405894"/>
            <a:ext cx="5315189" cy="3535083"/>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228600">
              <a:spcAft>
                <a:spcPts val="600"/>
              </a:spcAft>
              <a:buFont typeface="Arial" panose="020B0604020202020204" pitchFamily="34" charset="0"/>
              <a:buChar char="•"/>
            </a:pPr>
            <a:endParaRPr lang="en-US" sz="2000" dirty="0">
              <a:latin typeface="+mn-lt"/>
              <a:ea typeface="+mn-ea"/>
              <a:cs typeface="+mn-cs"/>
            </a:endParaRPr>
          </a:p>
          <a:p>
            <a:pPr indent="-228600">
              <a:spcAft>
                <a:spcPts val="600"/>
              </a:spcAft>
              <a:buFont typeface="Arial" panose="020B0604020202020204" pitchFamily="34" charset="0"/>
              <a:buChar char="•"/>
            </a:pPr>
            <a:endParaRPr lang="en-US" sz="2000" dirty="0">
              <a:latin typeface="+mn-lt"/>
              <a:ea typeface="+mn-ea"/>
              <a:cs typeface="+mn-cs"/>
            </a:endParaRPr>
          </a:p>
          <a:p>
            <a:pPr indent="-228600">
              <a:spcAft>
                <a:spcPts val="600"/>
              </a:spcAft>
              <a:buFont typeface="Arial" panose="020B0604020202020204" pitchFamily="34" charset="0"/>
              <a:buChar char="•"/>
            </a:pPr>
            <a:r>
              <a:rPr lang="en-US" sz="2000" dirty="0">
                <a:latin typeface="+mn-lt"/>
                <a:ea typeface="+mn-ea"/>
                <a:cs typeface="+mn-cs"/>
              </a:rPr>
              <a:t>1. Select the rules you want to audit.</a:t>
            </a:r>
          </a:p>
          <a:p>
            <a:pPr indent="-228600">
              <a:spcAft>
                <a:spcPts val="600"/>
              </a:spcAft>
              <a:buFont typeface="Arial" panose="020B0604020202020204" pitchFamily="34" charset="0"/>
              <a:buChar char="•"/>
            </a:pPr>
            <a:endParaRPr lang="en-US" sz="2000" dirty="0">
              <a:latin typeface="+mn-lt"/>
              <a:ea typeface="+mn-ea"/>
              <a:cs typeface="+mn-cs"/>
            </a:endParaRPr>
          </a:p>
          <a:p>
            <a:pPr indent="-228600">
              <a:spcAft>
                <a:spcPts val="600"/>
              </a:spcAft>
              <a:buFont typeface="Arial" panose="020B0604020202020204" pitchFamily="34" charset="0"/>
              <a:buChar char="•"/>
            </a:pPr>
            <a:endParaRPr lang="en-US" sz="2000" dirty="0">
              <a:latin typeface="+mn-lt"/>
              <a:ea typeface="+mn-ea"/>
              <a:cs typeface="+mn-cs"/>
            </a:endParaRPr>
          </a:p>
          <a:p>
            <a:pPr indent="-228600">
              <a:spcAft>
                <a:spcPts val="600"/>
              </a:spcAft>
              <a:buFont typeface="Arial" panose="020B0604020202020204" pitchFamily="34" charset="0"/>
              <a:buChar char="•"/>
            </a:pPr>
            <a:r>
              <a:rPr lang="en-US" sz="2000" dirty="0">
                <a:latin typeface="+mn-lt"/>
                <a:ea typeface="+mn-ea"/>
                <a:cs typeface="+mn-cs"/>
              </a:rPr>
              <a:t>2. Export them;</a:t>
            </a:r>
          </a:p>
          <a:p>
            <a:pPr>
              <a:spcAft>
                <a:spcPts val="600"/>
              </a:spcAft>
            </a:pPr>
            <a:r>
              <a:rPr lang="en-US" sz="1600" i="1" dirty="0">
                <a:latin typeface="+mn-lt"/>
                <a:ea typeface="+mn-ea"/>
                <a:cs typeface="+mn-cs"/>
              </a:rPr>
              <a:t>a JSON file will automatically download into your “Downloads” folder</a:t>
            </a:r>
          </a:p>
        </p:txBody>
      </p:sp>
      <p:sp>
        <p:nvSpPr>
          <p:cNvPr id="23" name="Rectangle 22">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Content Placeholder 14">
            <a:extLst>
              <a:ext uri="{FF2B5EF4-FFF2-40B4-BE49-F238E27FC236}">
                <a16:creationId xmlns:a16="http://schemas.microsoft.com/office/drawing/2014/main" id="{ED9E4734-B9EF-FAC7-E067-55B8768123BA}"/>
              </a:ext>
            </a:extLst>
          </p:cNvPr>
          <p:cNvPicPr>
            <a:picLocks noGrp="1" noChangeAspect="1"/>
          </p:cNvPicPr>
          <p:nvPr>
            <p:ph idx="1"/>
          </p:nvPr>
        </p:nvPicPr>
        <p:blipFill>
          <a:blip r:embed="rId2"/>
          <a:stretch>
            <a:fillRect/>
          </a:stretch>
        </p:blipFill>
        <p:spPr>
          <a:xfrm>
            <a:off x="6460112" y="1188259"/>
            <a:ext cx="5588647" cy="4023825"/>
          </a:xfrm>
          <a:prstGeom prst="rect">
            <a:avLst/>
          </a:prstGeom>
        </p:spPr>
      </p:pic>
      <p:sp>
        <p:nvSpPr>
          <p:cNvPr id="7" name="Title 1">
            <a:extLst>
              <a:ext uri="{FF2B5EF4-FFF2-40B4-BE49-F238E27FC236}">
                <a16:creationId xmlns:a16="http://schemas.microsoft.com/office/drawing/2014/main" id="{73C1E634-F7AA-9B08-60E1-570CAE501404}"/>
              </a:ext>
            </a:extLst>
          </p:cNvPr>
          <p:cNvSpPr txBox="1">
            <a:spLocks/>
          </p:cNvSpPr>
          <p:nvPr/>
        </p:nvSpPr>
        <p:spPr>
          <a:xfrm>
            <a:off x="598025" y="1536700"/>
            <a:ext cx="3526300" cy="47974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AU" sz="2000" dirty="0"/>
          </a:p>
        </p:txBody>
      </p:sp>
    </p:spTree>
    <p:extLst>
      <p:ext uri="{BB962C8B-B14F-4D97-AF65-F5344CB8AC3E}">
        <p14:creationId xmlns:p14="http://schemas.microsoft.com/office/powerpoint/2010/main" val="29229022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F9A0D-7333-5A99-6C27-39C1F4CBCAAA}"/>
              </a:ext>
            </a:extLst>
          </p:cNvPr>
          <p:cNvSpPr>
            <a:spLocks noGrp="1"/>
          </p:cNvSpPr>
          <p:nvPr>
            <p:ph type="title"/>
          </p:nvPr>
        </p:nvSpPr>
        <p:spPr/>
        <p:txBody>
          <a:bodyPr/>
          <a:lstStyle/>
          <a:p>
            <a:r>
              <a:rPr lang="en-US" dirty="0"/>
              <a:t>Step 3: Run SOC-Audit-Architect</a:t>
            </a:r>
            <a:endParaRPr lang="en-AU" dirty="0"/>
          </a:p>
        </p:txBody>
      </p:sp>
      <p:sp>
        <p:nvSpPr>
          <p:cNvPr id="3" name="Content Placeholder 2">
            <a:extLst>
              <a:ext uri="{FF2B5EF4-FFF2-40B4-BE49-F238E27FC236}">
                <a16:creationId xmlns:a16="http://schemas.microsoft.com/office/drawing/2014/main" id="{9AE715BB-B9D7-2150-936A-977B88D7489F}"/>
              </a:ext>
            </a:extLst>
          </p:cNvPr>
          <p:cNvSpPr>
            <a:spLocks noGrp="1"/>
          </p:cNvSpPr>
          <p:nvPr>
            <p:ph idx="1"/>
          </p:nvPr>
        </p:nvSpPr>
        <p:spPr>
          <a:xfrm>
            <a:off x="495299" y="4964346"/>
            <a:ext cx="3791145" cy="1087361"/>
          </a:xfrm>
        </p:spPr>
        <p:txBody>
          <a:bodyPr>
            <a:normAutofit fontScale="92500" lnSpcReduction="20000"/>
          </a:bodyPr>
          <a:lstStyle/>
          <a:p>
            <a:r>
              <a:rPr lang="en-US" dirty="0"/>
              <a:t>After clicking start new project;</a:t>
            </a:r>
          </a:p>
          <a:p>
            <a:r>
              <a:rPr lang="en-US" dirty="0"/>
              <a:t>Enter your full name.</a:t>
            </a:r>
            <a:endParaRPr lang="en-AU" dirty="0"/>
          </a:p>
        </p:txBody>
      </p:sp>
      <p:pic>
        <p:nvPicPr>
          <p:cNvPr id="7" name="Picture 6">
            <a:extLst>
              <a:ext uri="{FF2B5EF4-FFF2-40B4-BE49-F238E27FC236}">
                <a16:creationId xmlns:a16="http://schemas.microsoft.com/office/drawing/2014/main" id="{8968ACFD-22E7-581E-7BAF-6B74A23D27FC}"/>
              </a:ext>
            </a:extLst>
          </p:cNvPr>
          <p:cNvPicPr>
            <a:picLocks noChangeAspect="1"/>
          </p:cNvPicPr>
          <p:nvPr/>
        </p:nvPicPr>
        <p:blipFill>
          <a:blip r:embed="rId2"/>
          <a:stretch>
            <a:fillRect/>
          </a:stretch>
        </p:blipFill>
        <p:spPr>
          <a:xfrm>
            <a:off x="495299" y="1690688"/>
            <a:ext cx="3797495" cy="3048157"/>
          </a:xfrm>
          <a:prstGeom prst="rect">
            <a:avLst/>
          </a:prstGeom>
        </p:spPr>
      </p:pic>
      <p:pic>
        <p:nvPicPr>
          <p:cNvPr id="9" name="Picture 8">
            <a:extLst>
              <a:ext uri="{FF2B5EF4-FFF2-40B4-BE49-F238E27FC236}">
                <a16:creationId xmlns:a16="http://schemas.microsoft.com/office/drawing/2014/main" id="{EE629BB6-1E5C-E4AB-F77C-F13C903DF0D1}"/>
              </a:ext>
            </a:extLst>
          </p:cNvPr>
          <p:cNvPicPr>
            <a:picLocks noChangeAspect="1"/>
          </p:cNvPicPr>
          <p:nvPr/>
        </p:nvPicPr>
        <p:blipFill>
          <a:blip r:embed="rId3"/>
          <a:stretch>
            <a:fillRect/>
          </a:stretch>
        </p:blipFill>
        <p:spPr>
          <a:xfrm>
            <a:off x="4468713" y="1690688"/>
            <a:ext cx="3854648" cy="3048157"/>
          </a:xfrm>
          <a:prstGeom prst="rect">
            <a:avLst/>
          </a:prstGeom>
        </p:spPr>
      </p:pic>
      <p:sp>
        <p:nvSpPr>
          <p:cNvPr id="10" name="Content Placeholder 2">
            <a:extLst>
              <a:ext uri="{FF2B5EF4-FFF2-40B4-BE49-F238E27FC236}">
                <a16:creationId xmlns:a16="http://schemas.microsoft.com/office/drawing/2014/main" id="{CB0A46D2-39DD-E516-0DAD-315BCF3BAEE7}"/>
              </a:ext>
            </a:extLst>
          </p:cNvPr>
          <p:cNvSpPr txBox="1">
            <a:spLocks/>
          </p:cNvSpPr>
          <p:nvPr/>
        </p:nvSpPr>
        <p:spPr>
          <a:xfrm>
            <a:off x="4532216" y="4977047"/>
            <a:ext cx="3791145" cy="1087361"/>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Select the JSON file you downloaded from Sentinel</a:t>
            </a:r>
            <a:endParaRPr lang="en-AU" dirty="0"/>
          </a:p>
        </p:txBody>
      </p:sp>
      <p:pic>
        <p:nvPicPr>
          <p:cNvPr id="12" name="Picture 11">
            <a:extLst>
              <a:ext uri="{FF2B5EF4-FFF2-40B4-BE49-F238E27FC236}">
                <a16:creationId xmlns:a16="http://schemas.microsoft.com/office/drawing/2014/main" id="{9C126D11-6306-0988-E973-C5B7E1780B9E}"/>
              </a:ext>
            </a:extLst>
          </p:cNvPr>
          <p:cNvPicPr>
            <a:picLocks noChangeAspect="1"/>
          </p:cNvPicPr>
          <p:nvPr/>
        </p:nvPicPr>
        <p:blipFill>
          <a:blip r:embed="rId4"/>
          <a:stretch>
            <a:fillRect/>
          </a:stretch>
        </p:blipFill>
        <p:spPr>
          <a:xfrm>
            <a:off x="9207316" y="1819275"/>
            <a:ext cx="2489385" cy="1138238"/>
          </a:xfrm>
          <a:prstGeom prst="rect">
            <a:avLst/>
          </a:prstGeom>
        </p:spPr>
      </p:pic>
      <p:pic>
        <p:nvPicPr>
          <p:cNvPr id="14" name="Picture 13">
            <a:extLst>
              <a:ext uri="{FF2B5EF4-FFF2-40B4-BE49-F238E27FC236}">
                <a16:creationId xmlns:a16="http://schemas.microsoft.com/office/drawing/2014/main" id="{97BC6B32-A45F-3C28-7DCD-5E3967BCD5A0}"/>
              </a:ext>
            </a:extLst>
          </p:cNvPr>
          <p:cNvPicPr>
            <a:picLocks noChangeAspect="1"/>
          </p:cNvPicPr>
          <p:nvPr/>
        </p:nvPicPr>
        <p:blipFill>
          <a:blip r:embed="rId5"/>
          <a:stretch>
            <a:fillRect/>
          </a:stretch>
        </p:blipFill>
        <p:spPr>
          <a:xfrm>
            <a:off x="9207315" y="3086100"/>
            <a:ext cx="2489385" cy="1377712"/>
          </a:xfrm>
          <a:prstGeom prst="rect">
            <a:avLst/>
          </a:prstGeom>
        </p:spPr>
      </p:pic>
      <p:sp>
        <p:nvSpPr>
          <p:cNvPr id="15" name="Content Placeholder 2">
            <a:extLst>
              <a:ext uri="{FF2B5EF4-FFF2-40B4-BE49-F238E27FC236}">
                <a16:creationId xmlns:a16="http://schemas.microsoft.com/office/drawing/2014/main" id="{5F2912AE-294B-E186-353D-C04CF82F6563}"/>
              </a:ext>
            </a:extLst>
          </p:cNvPr>
          <p:cNvSpPr txBox="1">
            <a:spLocks/>
          </p:cNvSpPr>
          <p:nvPr/>
        </p:nvSpPr>
        <p:spPr>
          <a:xfrm>
            <a:off x="8686800" y="5046896"/>
            <a:ext cx="3427706" cy="1087361"/>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Name the Client</a:t>
            </a:r>
          </a:p>
          <a:p>
            <a:r>
              <a:rPr lang="en-US" dirty="0"/>
              <a:t>Confirm the date (it’s automatic)</a:t>
            </a:r>
            <a:endParaRPr lang="en-AU" dirty="0"/>
          </a:p>
        </p:txBody>
      </p:sp>
    </p:spTree>
    <p:extLst>
      <p:ext uri="{BB962C8B-B14F-4D97-AF65-F5344CB8AC3E}">
        <p14:creationId xmlns:p14="http://schemas.microsoft.com/office/powerpoint/2010/main" val="13487113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9D27B-5406-7796-2CD7-70BB1DD3C72A}"/>
              </a:ext>
            </a:extLst>
          </p:cNvPr>
          <p:cNvSpPr>
            <a:spLocks noGrp="1"/>
          </p:cNvSpPr>
          <p:nvPr>
            <p:ph type="title"/>
          </p:nvPr>
        </p:nvSpPr>
        <p:spPr>
          <a:xfrm>
            <a:off x="838200" y="365125"/>
            <a:ext cx="10515600" cy="1173613"/>
          </a:xfrm>
        </p:spPr>
        <p:txBody>
          <a:bodyPr>
            <a:normAutofit fontScale="90000"/>
          </a:bodyPr>
          <a:lstStyle/>
          <a:p>
            <a:r>
              <a:rPr lang="en-US" dirty="0"/>
              <a:t>Step 4: Selecting the Root directory for the client (see step 1)</a:t>
            </a:r>
            <a:endParaRPr lang="en-AU" dirty="0"/>
          </a:p>
        </p:txBody>
      </p:sp>
      <p:sp>
        <p:nvSpPr>
          <p:cNvPr id="3" name="Content Placeholder 2">
            <a:extLst>
              <a:ext uri="{FF2B5EF4-FFF2-40B4-BE49-F238E27FC236}">
                <a16:creationId xmlns:a16="http://schemas.microsoft.com/office/drawing/2014/main" id="{CF2172CA-2BAA-19DE-5F6C-734F9A695785}"/>
              </a:ext>
            </a:extLst>
          </p:cNvPr>
          <p:cNvSpPr>
            <a:spLocks noGrp="1"/>
          </p:cNvSpPr>
          <p:nvPr>
            <p:ph idx="1"/>
          </p:nvPr>
        </p:nvSpPr>
        <p:spPr>
          <a:xfrm>
            <a:off x="428625" y="1901600"/>
            <a:ext cx="3533775" cy="4351338"/>
          </a:xfrm>
        </p:spPr>
        <p:txBody>
          <a:bodyPr>
            <a:normAutofit/>
          </a:bodyPr>
          <a:lstStyle/>
          <a:p>
            <a:pPr marL="0" indent="0">
              <a:buNone/>
            </a:pPr>
            <a:r>
              <a:rPr lang="en-US" sz="2000" dirty="0"/>
              <a:t>1. Go to your Root Audits folder</a:t>
            </a:r>
          </a:p>
          <a:p>
            <a:endParaRPr lang="en-US" sz="2000" dirty="0"/>
          </a:p>
          <a:p>
            <a:pPr marL="0" indent="0">
              <a:buNone/>
            </a:pPr>
            <a:r>
              <a:rPr lang="en-US" sz="2000" dirty="0"/>
              <a:t>2. Select the Client you’re auditing</a:t>
            </a:r>
          </a:p>
          <a:p>
            <a:endParaRPr lang="en-US" sz="2000" dirty="0"/>
          </a:p>
          <a:p>
            <a:pPr marL="0" indent="0">
              <a:buNone/>
            </a:pPr>
            <a:r>
              <a:rPr lang="en-US" sz="2000" dirty="0"/>
              <a:t>3. Confirm the client by clicking </a:t>
            </a:r>
            <a:r>
              <a:rPr lang="en-US" sz="2000" i="1" dirty="0"/>
              <a:t>“Select Folder”</a:t>
            </a:r>
          </a:p>
          <a:p>
            <a:pPr marL="0" indent="0">
              <a:buNone/>
            </a:pPr>
            <a:endParaRPr lang="en-US" sz="2000" i="1" dirty="0"/>
          </a:p>
          <a:p>
            <a:pPr marL="0" indent="0">
              <a:buNone/>
            </a:pPr>
            <a:r>
              <a:rPr lang="en-US" sz="2000" dirty="0"/>
              <a:t>4. Confirm that the Automation is successful, and click “OK”</a:t>
            </a:r>
            <a:endParaRPr lang="en-AU" sz="2000" dirty="0"/>
          </a:p>
        </p:txBody>
      </p:sp>
      <p:pic>
        <p:nvPicPr>
          <p:cNvPr id="5" name="Picture 4">
            <a:extLst>
              <a:ext uri="{FF2B5EF4-FFF2-40B4-BE49-F238E27FC236}">
                <a16:creationId xmlns:a16="http://schemas.microsoft.com/office/drawing/2014/main" id="{CF7E2196-AE88-CFF7-6581-1AE36B4B6C0D}"/>
              </a:ext>
            </a:extLst>
          </p:cNvPr>
          <p:cNvPicPr>
            <a:picLocks noChangeAspect="1"/>
          </p:cNvPicPr>
          <p:nvPr/>
        </p:nvPicPr>
        <p:blipFill>
          <a:blip r:embed="rId2"/>
          <a:stretch>
            <a:fillRect/>
          </a:stretch>
        </p:blipFill>
        <p:spPr>
          <a:xfrm>
            <a:off x="5600700" y="1624463"/>
            <a:ext cx="5110679" cy="3290437"/>
          </a:xfrm>
          <a:prstGeom prst="rect">
            <a:avLst/>
          </a:prstGeom>
        </p:spPr>
      </p:pic>
      <p:pic>
        <p:nvPicPr>
          <p:cNvPr id="9" name="Picture 8">
            <a:extLst>
              <a:ext uri="{FF2B5EF4-FFF2-40B4-BE49-F238E27FC236}">
                <a16:creationId xmlns:a16="http://schemas.microsoft.com/office/drawing/2014/main" id="{B3AC6DB4-8C55-1254-BA67-65DF5CA003AF}"/>
              </a:ext>
            </a:extLst>
          </p:cNvPr>
          <p:cNvPicPr>
            <a:picLocks noChangeAspect="1"/>
          </p:cNvPicPr>
          <p:nvPr/>
        </p:nvPicPr>
        <p:blipFill>
          <a:blip r:embed="rId3"/>
          <a:stretch>
            <a:fillRect/>
          </a:stretch>
        </p:blipFill>
        <p:spPr>
          <a:xfrm>
            <a:off x="6853047" y="5121084"/>
            <a:ext cx="2753109" cy="1371791"/>
          </a:xfrm>
          <a:prstGeom prst="rect">
            <a:avLst/>
          </a:prstGeom>
        </p:spPr>
      </p:pic>
    </p:spTree>
    <p:extLst>
      <p:ext uri="{BB962C8B-B14F-4D97-AF65-F5344CB8AC3E}">
        <p14:creationId xmlns:p14="http://schemas.microsoft.com/office/powerpoint/2010/main" val="3485642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B9DA1-FFAC-37FA-1A23-55BF583342BD}"/>
              </a:ext>
            </a:extLst>
          </p:cNvPr>
          <p:cNvSpPr>
            <a:spLocks noGrp="1"/>
          </p:cNvSpPr>
          <p:nvPr>
            <p:ph type="title"/>
          </p:nvPr>
        </p:nvSpPr>
        <p:spPr/>
        <p:txBody>
          <a:bodyPr/>
          <a:lstStyle/>
          <a:p>
            <a:r>
              <a:rPr lang="en-US" dirty="0"/>
              <a:t>Step 5: Understanding Automated Directories</a:t>
            </a:r>
            <a:endParaRPr lang="en-AU" dirty="0"/>
          </a:p>
        </p:txBody>
      </p:sp>
      <p:sp>
        <p:nvSpPr>
          <p:cNvPr id="3" name="Content Placeholder 2">
            <a:extLst>
              <a:ext uri="{FF2B5EF4-FFF2-40B4-BE49-F238E27FC236}">
                <a16:creationId xmlns:a16="http://schemas.microsoft.com/office/drawing/2014/main" id="{2EE7AAC2-452B-F947-1C5A-2FC11ADE30EB}"/>
              </a:ext>
            </a:extLst>
          </p:cNvPr>
          <p:cNvSpPr>
            <a:spLocks noGrp="1"/>
          </p:cNvSpPr>
          <p:nvPr>
            <p:ph idx="1"/>
          </p:nvPr>
        </p:nvSpPr>
        <p:spPr>
          <a:xfrm>
            <a:off x="142875" y="1690687"/>
            <a:ext cx="5476875" cy="4802187"/>
          </a:xfrm>
        </p:spPr>
        <p:txBody>
          <a:bodyPr>
            <a:noAutofit/>
          </a:bodyPr>
          <a:lstStyle/>
          <a:p>
            <a:r>
              <a:rPr lang="en-US" sz="1400" dirty="0"/>
              <a:t>Upon completing Step 4; The Audit Directory will automatically open, and you will see something like this:</a:t>
            </a:r>
          </a:p>
          <a:p>
            <a:r>
              <a:rPr lang="en-US" sz="1400" dirty="0"/>
              <a:t>📁 OLD/</a:t>
            </a:r>
          </a:p>
          <a:p>
            <a:r>
              <a:rPr lang="en-US" sz="1400" dirty="0"/>
              <a:t>JSON files containing the pre-update versions of the rules.</a:t>
            </a:r>
          </a:p>
          <a:p>
            <a:r>
              <a:rPr lang="en-US" sz="1400" dirty="0"/>
              <a:t>📁 NEW/</a:t>
            </a:r>
          </a:p>
          <a:p>
            <a:r>
              <a:rPr lang="en-US" sz="1400" dirty="0"/>
              <a:t>JSON files containing the updated versions of the rules.</a:t>
            </a:r>
          </a:p>
          <a:p>
            <a:r>
              <a:rPr lang="en-US" sz="1400" dirty="0"/>
              <a:t>📁 hold/</a:t>
            </a:r>
          </a:p>
          <a:p>
            <a:r>
              <a:rPr lang="en-US" sz="1400" dirty="0"/>
              <a:t>Rules that still require automation or testing before they can be finalized.</a:t>
            </a:r>
          </a:p>
          <a:p>
            <a:r>
              <a:rPr lang="en-US" sz="1400" dirty="0"/>
              <a:t>📁 Updated Json/</a:t>
            </a:r>
          </a:p>
          <a:p>
            <a:r>
              <a:rPr lang="en-US" sz="1400" dirty="0"/>
              <a:t>Folder used to send updated rule files through DevOps for deployment.</a:t>
            </a:r>
          </a:p>
          <a:p>
            <a:r>
              <a:rPr lang="en-US" sz="1400" dirty="0"/>
              <a:t>📄 Analytics Rules Table (Excel Document)</a:t>
            </a:r>
          </a:p>
          <a:p>
            <a:r>
              <a:rPr lang="en-US" sz="1400" dirty="0"/>
              <a:t>Research, analysis, and findings related to analytics rules.</a:t>
            </a:r>
          </a:p>
          <a:p>
            <a:r>
              <a:rPr lang="en-US" sz="1400" dirty="0"/>
              <a:t>📄 Audit Signature</a:t>
            </a:r>
          </a:p>
          <a:p>
            <a:r>
              <a:rPr lang="en-US" sz="1400" dirty="0"/>
              <a:t>A simple document recording who is making the audit file</a:t>
            </a:r>
          </a:p>
          <a:p>
            <a:endParaRPr lang="en-US" sz="1400" dirty="0"/>
          </a:p>
        </p:txBody>
      </p:sp>
      <p:pic>
        <p:nvPicPr>
          <p:cNvPr id="7" name="Picture 6">
            <a:extLst>
              <a:ext uri="{FF2B5EF4-FFF2-40B4-BE49-F238E27FC236}">
                <a16:creationId xmlns:a16="http://schemas.microsoft.com/office/drawing/2014/main" id="{ABC7915A-01A9-748D-5511-E1AD5C57AEF1}"/>
              </a:ext>
            </a:extLst>
          </p:cNvPr>
          <p:cNvPicPr>
            <a:picLocks noChangeAspect="1"/>
          </p:cNvPicPr>
          <p:nvPr/>
        </p:nvPicPr>
        <p:blipFill>
          <a:blip r:embed="rId2"/>
          <a:stretch>
            <a:fillRect/>
          </a:stretch>
        </p:blipFill>
        <p:spPr>
          <a:xfrm>
            <a:off x="6096000" y="1690688"/>
            <a:ext cx="5219968" cy="4115011"/>
          </a:xfrm>
          <a:prstGeom prst="rect">
            <a:avLst/>
          </a:prstGeom>
        </p:spPr>
      </p:pic>
    </p:spTree>
    <p:extLst>
      <p:ext uri="{BB962C8B-B14F-4D97-AF65-F5344CB8AC3E}">
        <p14:creationId xmlns:p14="http://schemas.microsoft.com/office/powerpoint/2010/main" val="33401320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C34AC-693B-32AA-2BA3-FE6DDA024315}"/>
              </a:ext>
            </a:extLst>
          </p:cNvPr>
          <p:cNvSpPr>
            <a:spLocks noGrp="1"/>
          </p:cNvSpPr>
          <p:nvPr>
            <p:ph type="title"/>
          </p:nvPr>
        </p:nvSpPr>
        <p:spPr/>
        <p:txBody>
          <a:bodyPr/>
          <a:lstStyle/>
          <a:p>
            <a:r>
              <a:rPr lang="en-US" dirty="0"/>
              <a:t>Step 5.1: Understanding Automated Directories – The OLD folder.</a:t>
            </a:r>
            <a:endParaRPr lang="en-AU" dirty="0"/>
          </a:p>
        </p:txBody>
      </p:sp>
      <p:sp>
        <p:nvSpPr>
          <p:cNvPr id="3" name="Content Placeholder 2">
            <a:extLst>
              <a:ext uri="{FF2B5EF4-FFF2-40B4-BE49-F238E27FC236}">
                <a16:creationId xmlns:a16="http://schemas.microsoft.com/office/drawing/2014/main" id="{1932F52C-98BD-3927-5F9F-AD8251F58AD6}"/>
              </a:ext>
            </a:extLst>
          </p:cNvPr>
          <p:cNvSpPr>
            <a:spLocks noGrp="1"/>
          </p:cNvSpPr>
          <p:nvPr>
            <p:ph idx="1"/>
          </p:nvPr>
        </p:nvSpPr>
        <p:spPr>
          <a:xfrm>
            <a:off x="733424" y="1817687"/>
            <a:ext cx="11087101" cy="982663"/>
          </a:xfrm>
        </p:spPr>
        <p:txBody>
          <a:bodyPr>
            <a:normAutofit/>
          </a:bodyPr>
          <a:lstStyle/>
          <a:p>
            <a:r>
              <a:rPr lang="en-US" sz="2000" dirty="0"/>
              <a:t>Remember Sentinel? When you Enter into the “OLD” folder, You’ll see that the automated program has divided your master JSON file into all the individual rules that you selected from Sentinel!</a:t>
            </a:r>
            <a:endParaRPr lang="en-AU" sz="2000" dirty="0"/>
          </a:p>
        </p:txBody>
      </p:sp>
      <p:pic>
        <p:nvPicPr>
          <p:cNvPr id="5" name="Picture 4">
            <a:extLst>
              <a:ext uri="{FF2B5EF4-FFF2-40B4-BE49-F238E27FC236}">
                <a16:creationId xmlns:a16="http://schemas.microsoft.com/office/drawing/2014/main" id="{B6FFB593-35A9-4023-7ACC-C1798525C757}"/>
              </a:ext>
            </a:extLst>
          </p:cNvPr>
          <p:cNvPicPr>
            <a:picLocks noChangeAspect="1"/>
          </p:cNvPicPr>
          <p:nvPr/>
        </p:nvPicPr>
        <p:blipFill>
          <a:blip r:embed="rId2"/>
          <a:stretch>
            <a:fillRect/>
          </a:stretch>
        </p:blipFill>
        <p:spPr>
          <a:xfrm>
            <a:off x="6476239" y="2482485"/>
            <a:ext cx="5550217" cy="4010390"/>
          </a:xfrm>
          <a:prstGeom prst="rect">
            <a:avLst/>
          </a:prstGeom>
        </p:spPr>
      </p:pic>
      <p:pic>
        <p:nvPicPr>
          <p:cNvPr id="7" name="Picture 6">
            <a:extLst>
              <a:ext uri="{FF2B5EF4-FFF2-40B4-BE49-F238E27FC236}">
                <a16:creationId xmlns:a16="http://schemas.microsoft.com/office/drawing/2014/main" id="{3C3CAB1E-5C82-F88F-96A7-D838952DAF2F}"/>
              </a:ext>
            </a:extLst>
          </p:cNvPr>
          <p:cNvPicPr>
            <a:picLocks noChangeAspect="1"/>
          </p:cNvPicPr>
          <p:nvPr/>
        </p:nvPicPr>
        <p:blipFill>
          <a:blip r:embed="rId3"/>
          <a:stretch>
            <a:fillRect/>
          </a:stretch>
        </p:blipFill>
        <p:spPr>
          <a:xfrm>
            <a:off x="165544" y="2800350"/>
            <a:ext cx="5382883" cy="3151323"/>
          </a:xfrm>
          <a:prstGeom prst="rect">
            <a:avLst/>
          </a:prstGeom>
        </p:spPr>
      </p:pic>
      <p:sp>
        <p:nvSpPr>
          <p:cNvPr id="9" name="Arrow: Right 8">
            <a:extLst>
              <a:ext uri="{FF2B5EF4-FFF2-40B4-BE49-F238E27FC236}">
                <a16:creationId xmlns:a16="http://schemas.microsoft.com/office/drawing/2014/main" id="{FC566394-4368-DA5A-AC80-D813B397F513}"/>
              </a:ext>
            </a:extLst>
          </p:cNvPr>
          <p:cNvSpPr/>
          <p:nvPr/>
        </p:nvSpPr>
        <p:spPr>
          <a:xfrm>
            <a:off x="5056250" y="4204216"/>
            <a:ext cx="1319023" cy="5669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078638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3AADC-4D5F-5A2E-4B3A-189EB8A65B8D}"/>
              </a:ext>
            </a:extLst>
          </p:cNvPr>
          <p:cNvSpPr>
            <a:spLocks noGrp="1"/>
          </p:cNvSpPr>
          <p:nvPr>
            <p:ph type="title"/>
          </p:nvPr>
        </p:nvSpPr>
        <p:spPr/>
        <p:txBody>
          <a:bodyPr>
            <a:normAutofit/>
          </a:bodyPr>
          <a:lstStyle/>
          <a:p>
            <a:r>
              <a:rPr lang="en-US" sz="3600" dirty="0"/>
              <a:t>Step 5.2: Understanding Automated Directories – The MASTER JSON file</a:t>
            </a:r>
            <a:endParaRPr lang="en-AU" sz="3600" dirty="0"/>
          </a:p>
        </p:txBody>
      </p:sp>
      <p:sp>
        <p:nvSpPr>
          <p:cNvPr id="3" name="Content Placeholder 2">
            <a:extLst>
              <a:ext uri="{FF2B5EF4-FFF2-40B4-BE49-F238E27FC236}">
                <a16:creationId xmlns:a16="http://schemas.microsoft.com/office/drawing/2014/main" id="{E6ADA429-CEAC-8BCB-BF23-DA6BF079C5B0}"/>
              </a:ext>
            </a:extLst>
          </p:cNvPr>
          <p:cNvSpPr>
            <a:spLocks noGrp="1"/>
          </p:cNvSpPr>
          <p:nvPr>
            <p:ph idx="1"/>
          </p:nvPr>
        </p:nvSpPr>
        <p:spPr>
          <a:xfrm>
            <a:off x="838200" y="1825625"/>
            <a:ext cx="4739640" cy="4351338"/>
          </a:xfrm>
        </p:spPr>
        <p:txBody>
          <a:bodyPr>
            <a:normAutofit lnSpcReduction="10000"/>
          </a:bodyPr>
          <a:lstStyle/>
          <a:p>
            <a:r>
              <a:rPr lang="en-US" sz="1800" dirty="0"/>
              <a:t>Now that we have all the individual rules extracted from the master JSON.</a:t>
            </a:r>
          </a:p>
          <a:p>
            <a:r>
              <a:rPr lang="en-AU" sz="1800" dirty="0"/>
              <a:t>What happened to the original file?</a:t>
            </a:r>
          </a:p>
          <a:p>
            <a:r>
              <a:rPr lang="en-AU" sz="1800" dirty="0"/>
              <a:t>The automated program will move the master JSON from the download folder, into a directory that collects all the master files, titled, “Historical Master JSON’s”</a:t>
            </a:r>
          </a:p>
          <a:p>
            <a:r>
              <a:rPr lang="en-AU" sz="1800" dirty="0"/>
              <a:t>Finally, when you enter that folder, you’ll see that the automated program renamed the Master JSON file to a standard format of:</a:t>
            </a:r>
          </a:p>
          <a:p>
            <a:r>
              <a:rPr lang="en-AU" sz="1800" dirty="0"/>
              <a:t> </a:t>
            </a:r>
            <a:r>
              <a:rPr lang="en-AU" sz="1800" dirty="0">
                <a:solidFill>
                  <a:schemeClr val="accent4">
                    <a:lumMod val="60000"/>
                    <a:lumOff val="40000"/>
                  </a:schemeClr>
                </a:solidFill>
              </a:rPr>
              <a:t>[client name] [date of audit] [MASTERJSON]</a:t>
            </a:r>
          </a:p>
          <a:p>
            <a:endParaRPr lang="en-AU" sz="1800" dirty="0">
              <a:solidFill>
                <a:schemeClr val="accent4">
                  <a:lumMod val="60000"/>
                  <a:lumOff val="40000"/>
                </a:schemeClr>
              </a:solidFill>
            </a:endParaRPr>
          </a:p>
          <a:p>
            <a:r>
              <a:rPr lang="en-US" sz="1500" i="1" dirty="0"/>
              <a:t>This is all automated. You don’t have to worry about it. – Your download folder doesn’t get clogged up, and your auditing file system is automatically updated .</a:t>
            </a:r>
          </a:p>
        </p:txBody>
      </p:sp>
      <p:pic>
        <p:nvPicPr>
          <p:cNvPr id="5" name="Picture 4">
            <a:extLst>
              <a:ext uri="{FF2B5EF4-FFF2-40B4-BE49-F238E27FC236}">
                <a16:creationId xmlns:a16="http://schemas.microsoft.com/office/drawing/2014/main" id="{B2407DA4-1FB6-253E-452E-B1D88D318B83}"/>
              </a:ext>
            </a:extLst>
          </p:cNvPr>
          <p:cNvPicPr>
            <a:picLocks noChangeAspect="1"/>
          </p:cNvPicPr>
          <p:nvPr/>
        </p:nvPicPr>
        <p:blipFill>
          <a:blip r:embed="rId2"/>
          <a:stretch>
            <a:fillRect/>
          </a:stretch>
        </p:blipFill>
        <p:spPr>
          <a:xfrm>
            <a:off x="6871180" y="1131316"/>
            <a:ext cx="4216617" cy="1562180"/>
          </a:xfrm>
          <a:prstGeom prst="rect">
            <a:avLst/>
          </a:prstGeom>
        </p:spPr>
      </p:pic>
      <p:pic>
        <p:nvPicPr>
          <p:cNvPr id="7" name="Picture 6">
            <a:extLst>
              <a:ext uri="{FF2B5EF4-FFF2-40B4-BE49-F238E27FC236}">
                <a16:creationId xmlns:a16="http://schemas.microsoft.com/office/drawing/2014/main" id="{892EA884-3AD7-5306-5C33-A4F0AF2B9574}"/>
              </a:ext>
            </a:extLst>
          </p:cNvPr>
          <p:cNvPicPr>
            <a:picLocks noChangeAspect="1"/>
          </p:cNvPicPr>
          <p:nvPr/>
        </p:nvPicPr>
        <p:blipFill>
          <a:blip r:embed="rId3"/>
          <a:stretch>
            <a:fillRect/>
          </a:stretch>
        </p:blipFill>
        <p:spPr>
          <a:xfrm>
            <a:off x="7014631" y="2693496"/>
            <a:ext cx="3691470" cy="1615018"/>
          </a:xfrm>
          <a:prstGeom prst="rect">
            <a:avLst/>
          </a:prstGeom>
        </p:spPr>
      </p:pic>
      <p:pic>
        <p:nvPicPr>
          <p:cNvPr id="11" name="Picture 10">
            <a:extLst>
              <a:ext uri="{FF2B5EF4-FFF2-40B4-BE49-F238E27FC236}">
                <a16:creationId xmlns:a16="http://schemas.microsoft.com/office/drawing/2014/main" id="{23153CA0-E14B-CB74-44D1-BD3BBB8D01D2}"/>
              </a:ext>
            </a:extLst>
          </p:cNvPr>
          <p:cNvPicPr>
            <a:picLocks noChangeAspect="1"/>
          </p:cNvPicPr>
          <p:nvPr/>
        </p:nvPicPr>
        <p:blipFill>
          <a:blip r:embed="rId4"/>
          <a:stretch>
            <a:fillRect/>
          </a:stretch>
        </p:blipFill>
        <p:spPr>
          <a:xfrm>
            <a:off x="6362003" y="4463767"/>
            <a:ext cx="4991797" cy="2029108"/>
          </a:xfrm>
          <a:prstGeom prst="rect">
            <a:avLst/>
          </a:prstGeom>
        </p:spPr>
      </p:pic>
    </p:spTree>
    <p:extLst>
      <p:ext uri="{BB962C8B-B14F-4D97-AF65-F5344CB8AC3E}">
        <p14:creationId xmlns:p14="http://schemas.microsoft.com/office/powerpoint/2010/main" val="19837893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AFA27-66E4-47E8-33CE-C248C2DAFF36}"/>
              </a:ext>
            </a:extLst>
          </p:cNvPr>
          <p:cNvSpPr>
            <a:spLocks noGrp="1"/>
          </p:cNvSpPr>
          <p:nvPr>
            <p:ph type="title"/>
          </p:nvPr>
        </p:nvSpPr>
        <p:spPr/>
        <p:txBody>
          <a:bodyPr/>
          <a:lstStyle/>
          <a:p>
            <a:r>
              <a:rPr lang="en-US" dirty="0"/>
              <a:t>Step 6: Understanding Automated Files – The “Audit_Signature.txt” file</a:t>
            </a:r>
            <a:endParaRPr lang="en-AU" dirty="0"/>
          </a:p>
        </p:txBody>
      </p:sp>
      <p:sp>
        <p:nvSpPr>
          <p:cNvPr id="3" name="Content Placeholder 2">
            <a:extLst>
              <a:ext uri="{FF2B5EF4-FFF2-40B4-BE49-F238E27FC236}">
                <a16:creationId xmlns:a16="http://schemas.microsoft.com/office/drawing/2014/main" id="{E16FAC47-3F34-43DC-1F28-E17A4BEE03F5}"/>
              </a:ext>
            </a:extLst>
          </p:cNvPr>
          <p:cNvSpPr>
            <a:spLocks noGrp="1"/>
          </p:cNvSpPr>
          <p:nvPr>
            <p:ph idx="1"/>
          </p:nvPr>
        </p:nvSpPr>
        <p:spPr>
          <a:xfrm>
            <a:off x="838200" y="1825624"/>
            <a:ext cx="3870960" cy="4575175"/>
          </a:xfrm>
        </p:spPr>
        <p:txBody>
          <a:bodyPr/>
          <a:lstStyle/>
          <a:p>
            <a:r>
              <a:rPr lang="en-US" dirty="0"/>
              <a:t>Inside the Audit file, you’ll see a text document titled, “Audit Signature”</a:t>
            </a:r>
          </a:p>
          <a:p>
            <a:endParaRPr lang="en-US" dirty="0"/>
          </a:p>
          <a:p>
            <a:r>
              <a:rPr lang="en-US" dirty="0"/>
              <a:t>This will tell you information about who did this audit, what date, the client and how many rules were audited </a:t>
            </a:r>
            <a:endParaRPr lang="en-AU" dirty="0"/>
          </a:p>
        </p:txBody>
      </p:sp>
      <p:pic>
        <p:nvPicPr>
          <p:cNvPr id="5" name="Picture 4">
            <a:extLst>
              <a:ext uri="{FF2B5EF4-FFF2-40B4-BE49-F238E27FC236}">
                <a16:creationId xmlns:a16="http://schemas.microsoft.com/office/drawing/2014/main" id="{8530F7E9-854A-F65B-3EDD-367307EAE425}"/>
              </a:ext>
            </a:extLst>
          </p:cNvPr>
          <p:cNvPicPr>
            <a:picLocks noChangeAspect="1"/>
          </p:cNvPicPr>
          <p:nvPr/>
        </p:nvPicPr>
        <p:blipFill>
          <a:blip r:embed="rId2"/>
          <a:stretch>
            <a:fillRect/>
          </a:stretch>
        </p:blipFill>
        <p:spPr>
          <a:xfrm>
            <a:off x="5937094" y="2578687"/>
            <a:ext cx="5151913" cy="2615105"/>
          </a:xfrm>
          <a:prstGeom prst="rect">
            <a:avLst/>
          </a:prstGeom>
        </p:spPr>
      </p:pic>
    </p:spTree>
    <p:extLst>
      <p:ext uri="{BB962C8B-B14F-4D97-AF65-F5344CB8AC3E}">
        <p14:creationId xmlns:p14="http://schemas.microsoft.com/office/powerpoint/2010/main" val="24506970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65831-6C03-A004-6214-B50F3BE1D697}"/>
              </a:ext>
            </a:extLst>
          </p:cNvPr>
          <p:cNvSpPr>
            <a:spLocks noGrp="1"/>
          </p:cNvSpPr>
          <p:nvPr>
            <p:ph type="title"/>
          </p:nvPr>
        </p:nvSpPr>
        <p:spPr/>
        <p:txBody>
          <a:bodyPr/>
          <a:lstStyle/>
          <a:p>
            <a:r>
              <a:rPr lang="en-US" dirty="0"/>
              <a:t>Step 6.1: Understanding Automated Files – The Excel Spreadsheet File.</a:t>
            </a:r>
            <a:endParaRPr lang="en-AU" dirty="0"/>
          </a:p>
        </p:txBody>
      </p:sp>
      <p:sp>
        <p:nvSpPr>
          <p:cNvPr id="3" name="Content Placeholder 2">
            <a:extLst>
              <a:ext uri="{FF2B5EF4-FFF2-40B4-BE49-F238E27FC236}">
                <a16:creationId xmlns:a16="http://schemas.microsoft.com/office/drawing/2014/main" id="{129D557F-8F2D-EB9A-C899-2FBD7C1D6CD9}"/>
              </a:ext>
            </a:extLst>
          </p:cNvPr>
          <p:cNvSpPr>
            <a:spLocks noGrp="1"/>
          </p:cNvSpPr>
          <p:nvPr>
            <p:ph idx="1"/>
          </p:nvPr>
        </p:nvSpPr>
        <p:spPr>
          <a:xfrm>
            <a:off x="838200" y="1825625"/>
            <a:ext cx="2627376" cy="4351338"/>
          </a:xfrm>
        </p:spPr>
        <p:txBody>
          <a:bodyPr>
            <a:normAutofit fontScale="92500" lnSpcReduction="20000"/>
          </a:bodyPr>
          <a:lstStyle/>
          <a:p>
            <a:r>
              <a:rPr lang="en-US" dirty="0"/>
              <a:t>This is where the real magic happens.</a:t>
            </a:r>
          </a:p>
          <a:p>
            <a:endParaRPr lang="en-US" dirty="0"/>
          </a:p>
          <a:p>
            <a:r>
              <a:rPr lang="en-US" dirty="0"/>
              <a:t>This function saves so much time.</a:t>
            </a:r>
          </a:p>
          <a:p>
            <a:endParaRPr lang="en-US" dirty="0"/>
          </a:p>
          <a:p>
            <a:r>
              <a:rPr lang="en-US" dirty="0"/>
              <a:t>Open the Excel document to view the power of automation!</a:t>
            </a:r>
            <a:endParaRPr lang="en-AU" dirty="0"/>
          </a:p>
        </p:txBody>
      </p:sp>
      <p:pic>
        <p:nvPicPr>
          <p:cNvPr id="5" name="Picture 4">
            <a:extLst>
              <a:ext uri="{FF2B5EF4-FFF2-40B4-BE49-F238E27FC236}">
                <a16:creationId xmlns:a16="http://schemas.microsoft.com/office/drawing/2014/main" id="{B57899C1-54AC-0EE2-B411-9B42E55A83ED}"/>
              </a:ext>
            </a:extLst>
          </p:cNvPr>
          <p:cNvPicPr>
            <a:picLocks noChangeAspect="1"/>
          </p:cNvPicPr>
          <p:nvPr/>
        </p:nvPicPr>
        <p:blipFill>
          <a:blip r:embed="rId2"/>
          <a:stretch>
            <a:fillRect/>
          </a:stretch>
        </p:blipFill>
        <p:spPr>
          <a:xfrm>
            <a:off x="4294773" y="2134887"/>
            <a:ext cx="7182852" cy="3391373"/>
          </a:xfrm>
          <a:prstGeom prst="rect">
            <a:avLst/>
          </a:prstGeom>
        </p:spPr>
      </p:pic>
    </p:spTree>
    <p:extLst>
      <p:ext uri="{BB962C8B-B14F-4D97-AF65-F5344CB8AC3E}">
        <p14:creationId xmlns:p14="http://schemas.microsoft.com/office/powerpoint/2010/main" val="23637240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6B093-E948-F2FD-1660-562871620505}"/>
              </a:ext>
            </a:extLst>
          </p:cNvPr>
          <p:cNvSpPr>
            <a:spLocks noGrp="1"/>
          </p:cNvSpPr>
          <p:nvPr>
            <p:ph type="title"/>
          </p:nvPr>
        </p:nvSpPr>
        <p:spPr>
          <a:xfrm>
            <a:off x="838200" y="102666"/>
            <a:ext cx="10515600" cy="1325563"/>
          </a:xfrm>
        </p:spPr>
        <p:txBody>
          <a:bodyPr>
            <a:normAutofit/>
          </a:bodyPr>
          <a:lstStyle/>
          <a:p>
            <a:r>
              <a:rPr lang="en-US" sz="3200" dirty="0"/>
              <a:t>Step 6.2: Understanding Automated Files – The Excel Spreadsheet File.</a:t>
            </a:r>
            <a:endParaRPr lang="en-AU" sz="3200" dirty="0"/>
          </a:p>
        </p:txBody>
      </p:sp>
      <p:pic>
        <p:nvPicPr>
          <p:cNvPr id="5" name="Picture 4">
            <a:extLst>
              <a:ext uri="{FF2B5EF4-FFF2-40B4-BE49-F238E27FC236}">
                <a16:creationId xmlns:a16="http://schemas.microsoft.com/office/drawing/2014/main" id="{A25BB01F-1CC4-2775-246F-FB12A05F8365}"/>
              </a:ext>
            </a:extLst>
          </p:cNvPr>
          <p:cNvPicPr>
            <a:picLocks noChangeAspect="1"/>
          </p:cNvPicPr>
          <p:nvPr/>
        </p:nvPicPr>
        <p:blipFill>
          <a:blip r:embed="rId2"/>
          <a:stretch>
            <a:fillRect/>
          </a:stretch>
        </p:blipFill>
        <p:spPr>
          <a:xfrm>
            <a:off x="0" y="2753792"/>
            <a:ext cx="12192000" cy="3826916"/>
          </a:xfrm>
          <a:prstGeom prst="rect">
            <a:avLst/>
          </a:prstGeom>
        </p:spPr>
      </p:pic>
      <p:sp>
        <p:nvSpPr>
          <p:cNvPr id="6" name="Title 1">
            <a:extLst>
              <a:ext uri="{FF2B5EF4-FFF2-40B4-BE49-F238E27FC236}">
                <a16:creationId xmlns:a16="http://schemas.microsoft.com/office/drawing/2014/main" id="{2D80FC4C-F295-9C06-F9CB-49E7C4637D30}"/>
              </a:ext>
            </a:extLst>
          </p:cNvPr>
          <p:cNvSpPr txBox="1">
            <a:spLocks/>
          </p:cNvSpPr>
          <p:nvPr/>
        </p:nvSpPr>
        <p:spPr>
          <a:xfrm>
            <a:off x="838200" y="142822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600" dirty="0"/>
              <a:t>The automation tool will create a spread sheet, and import the Rule Name, Current Version, Verify if its Enable/Disabled and extract the Current Rule into the “Old KQL” column.</a:t>
            </a:r>
          </a:p>
          <a:p>
            <a:endParaRPr lang="en-US" sz="1600" dirty="0"/>
          </a:p>
          <a:p>
            <a:r>
              <a:rPr lang="en-US" sz="1600" dirty="0"/>
              <a:t>Just for this demonstration I’ve only shown a small part of what else is included in the generated spread sheet. Continue to the next page to see more!</a:t>
            </a:r>
            <a:endParaRPr lang="en-AU" sz="1600" dirty="0"/>
          </a:p>
        </p:txBody>
      </p:sp>
    </p:spTree>
    <p:extLst>
      <p:ext uri="{BB962C8B-B14F-4D97-AF65-F5344CB8AC3E}">
        <p14:creationId xmlns:p14="http://schemas.microsoft.com/office/powerpoint/2010/main" val="20450753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FC464-EC1D-D503-8381-B3C4AA1A3284}"/>
              </a:ext>
            </a:extLst>
          </p:cNvPr>
          <p:cNvSpPr>
            <a:spLocks noGrp="1"/>
          </p:cNvSpPr>
          <p:nvPr>
            <p:ph type="title"/>
          </p:nvPr>
        </p:nvSpPr>
        <p:spPr>
          <a:xfrm>
            <a:off x="838200" y="0"/>
            <a:ext cx="10515600" cy="1325563"/>
          </a:xfrm>
        </p:spPr>
        <p:txBody>
          <a:bodyPr>
            <a:normAutofit/>
          </a:bodyPr>
          <a:lstStyle/>
          <a:p>
            <a:r>
              <a:rPr lang="en-US" sz="2800" dirty="0"/>
              <a:t>Step 6.3: Understanding Automated Files – The Excel Spreadsheet File.</a:t>
            </a:r>
            <a:endParaRPr lang="en-AU" sz="2800" dirty="0"/>
          </a:p>
        </p:txBody>
      </p:sp>
      <p:sp>
        <p:nvSpPr>
          <p:cNvPr id="3" name="Content Placeholder 2">
            <a:extLst>
              <a:ext uri="{FF2B5EF4-FFF2-40B4-BE49-F238E27FC236}">
                <a16:creationId xmlns:a16="http://schemas.microsoft.com/office/drawing/2014/main" id="{0E6ED7DA-404F-67D2-BC4D-310876721CCB}"/>
              </a:ext>
            </a:extLst>
          </p:cNvPr>
          <p:cNvSpPr>
            <a:spLocks noGrp="1"/>
          </p:cNvSpPr>
          <p:nvPr>
            <p:ph idx="1"/>
          </p:nvPr>
        </p:nvSpPr>
        <p:spPr>
          <a:xfrm>
            <a:off x="1088136" y="1179343"/>
            <a:ext cx="10015728" cy="725551"/>
          </a:xfrm>
        </p:spPr>
        <p:txBody>
          <a:bodyPr>
            <a:noAutofit/>
          </a:bodyPr>
          <a:lstStyle/>
          <a:p>
            <a:r>
              <a:rPr lang="en-US" sz="1600" dirty="0"/>
              <a:t>This is what the other columns look like in the generated spreadsheet. Notice how there is a column for ‘Audit Judgement’. There is a drop-down menu that allows you to select a category for future reference. </a:t>
            </a:r>
          </a:p>
          <a:p>
            <a:r>
              <a:rPr lang="en-AU" sz="1600" dirty="0"/>
              <a:t>If you open the excel document, you will see that there will be a row representing every Rule that you selected in Sentinel. </a:t>
            </a:r>
            <a:endParaRPr lang="en-US" sz="1600" dirty="0"/>
          </a:p>
        </p:txBody>
      </p:sp>
      <p:pic>
        <p:nvPicPr>
          <p:cNvPr id="7" name="Picture 6">
            <a:extLst>
              <a:ext uri="{FF2B5EF4-FFF2-40B4-BE49-F238E27FC236}">
                <a16:creationId xmlns:a16="http://schemas.microsoft.com/office/drawing/2014/main" id="{084AD659-9ADF-79EE-501A-D02D0A5B4175}"/>
              </a:ext>
            </a:extLst>
          </p:cNvPr>
          <p:cNvPicPr>
            <a:picLocks noChangeAspect="1"/>
          </p:cNvPicPr>
          <p:nvPr/>
        </p:nvPicPr>
        <p:blipFill>
          <a:blip r:embed="rId2"/>
          <a:stretch>
            <a:fillRect/>
          </a:stretch>
        </p:blipFill>
        <p:spPr>
          <a:xfrm>
            <a:off x="0" y="2484226"/>
            <a:ext cx="12192000" cy="4285275"/>
          </a:xfrm>
          <a:prstGeom prst="rect">
            <a:avLst/>
          </a:prstGeom>
        </p:spPr>
      </p:pic>
    </p:spTree>
    <p:extLst>
      <p:ext uri="{BB962C8B-B14F-4D97-AF65-F5344CB8AC3E}">
        <p14:creationId xmlns:p14="http://schemas.microsoft.com/office/powerpoint/2010/main" val="8294830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234</TotalTime>
  <Words>724</Words>
  <Application>Microsoft Office PowerPoint</Application>
  <PresentationFormat>Widescreen</PresentationFormat>
  <Paragraphs>73</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SOC Audit Architect</vt:lpstr>
      <vt:lpstr>Step 1: Initialize the Environment</vt:lpstr>
      <vt:lpstr>Step 2: Download Master JSON from Sentinel</vt:lpstr>
      <vt:lpstr>Step 3: Run SOC-Audit-Architect</vt:lpstr>
      <vt:lpstr>Step 4: Selecting the Root directory for the client (see step 1)</vt:lpstr>
      <vt:lpstr>Step 5: Understanding Automated Directories</vt:lpstr>
      <vt:lpstr>Step 5.1: Understanding Automated Directories – The OLD folder.</vt:lpstr>
      <vt:lpstr>Step 5.2: Understanding Automated Directories – The MASTER JSON file</vt:lpstr>
      <vt:lpstr>Step 6: Understanding Automated Files – The “Audit_Signature.txt” file</vt:lpstr>
      <vt:lpstr>Step 6.1: Understanding Automated Files – The Excel Spreadsheet File.</vt:lpstr>
      <vt:lpstr>Step 6.2: Understanding Automated Files – The Excel Spreadsheet File.</vt:lpstr>
      <vt:lpstr>Step 6.3: Understanding Automated Files – The Excel Spreadsheet File.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James Howard</dc:creator>
  <cp:lastModifiedBy>James Howard</cp:lastModifiedBy>
  <cp:revision>3</cp:revision>
  <dcterms:created xsi:type="dcterms:W3CDTF">2026-02-17T00:52:53Z</dcterms:created>
  <dcterms:modified xsi:type="dcterms:W3CDTF">2026-02-19T02:48:50Z</dcterms:modified>
</cp:coreProperties>
</file>